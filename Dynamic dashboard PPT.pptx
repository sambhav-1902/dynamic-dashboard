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396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0039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manual pain point first, then introduce the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4-step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Message-ID (thread matching) and Ongoing Since (used for days-open dashboard list).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GLiNER and BGE download automatically from Hugging Face on first run. Gemma needs a special one-time setup because the office network blocks the Ollama registry.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Gemma setup is done once. After that the script just needs Outlook open and runs with a single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approach was tried and hit a real, specific blocker. pywin32 was the only path that worked within office environment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Approaches A and F both hit 100% but were gaming the metric by including too many categories. Approach B gave genuinely useful, focused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GLiNER is fast (~0.04s). Choosing it over an LLM for structured extraction keeps each email fast to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approaches tried. The key lesson: model size matters for this task — anything under 1B parameters could not reliably distinguish 'acknowledged' from 'resolved'.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branch. Key point: Gemma only runs when someone other than the original sender replies — minimising LLM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is a Python-computed static snapshot written into the Excel file using openpyxl. Regenerated from scratch on every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slide. Each feature was covered in detail earlier — walk through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impact. The before/after makes it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time for questions. Be ready to demo the running script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B6E88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solidFill>
            <a:srgbClr val="0E9AB5">
              <a:alpha val="30000"/>
            </a:srgbClr>
          </a:solidFill>
          <a:ln w="12700">
            <a:solidFill>
              <a:srgbClr val="0E9A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3657600"/>
            <a:ext cx="1463040" cy="1463040"/>
          </a:xfrm>
          <a:prstGeom prst="ellipse">
            <a:avLst/>
          </a:prstGeom>
          <a:solidFill>
            <a:srgbClr val="0D1B2A">
              <a:alpha val="6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9144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TechOps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84048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Dashboard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840480" y="2606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Email-to-Excel Support Ticket System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AI-Powered Analysis &amp; Live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0" y="3566160"/>
            <a:ext cx="4937760" cy="27432"/>
          </a:xfrm>
          <a:prstGeom prst="rect">
            <a:avLst/>
          </a:prstGeom>
          <a:solidFill>
            <a:srgbClr val="0B6E88"/>
          </a:solidFill>
          <a:ln w="12700">
            <a:solidFill>
              <a:srgbClr val="0B6E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37033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Sambhav Singwi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40050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&amp; AI Intern — EXL Service  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7160" y="256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PROJECT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" y="4480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 Automation  ·  AI / LLM  ·  Excel Dashboard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TechOps Mail Tracker?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8321040" cy="105156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44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58191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TechOps receives support emails from clients — tracking them manually in Excel is slow, error-prone, and provides no visibility into workload or resolution rates.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423160"/>
            <a:ext cx="8321040" cy="105156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532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27706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automated system that monitors the Outlook inbox, classifies each email using AI, logs it to Excel, and generates a live dashboard — requiring zero manual effort.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611880"/>
            <a:ext cx="8321040" cy="105156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7216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IT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395935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TechOps team members and the supervisor — to track open tickets, monitor resolution progress, and review workload by category and assignee.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FLOW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End to 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1965960" cy="320040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25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6E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Arrives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2331720"/>
            <a:ext cx="1746504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 inbox polled every 15s via pywin32 COM automation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59152" y="25146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6E88"/>
                </a:solidFill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234440"/>
            <a:ext cx="1965960" cy="320040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325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6E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65176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Processing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70048" y="2331720"/>
            <a:ext cx="1746504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AI models classify category, extract due date, detect resolution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07992" y="25146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6E88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234440"/>
            <a:ext cx="1965960" cy="320040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1325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6E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80060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Updated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18888" y="2331720"/>
            <a:ext cx="1746504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ticket row added or existing reply appended automatically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56832" y="25146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6E88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0" y="1234440"/>
            <a:ext cx="1965960" cy="320040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49440" y="1325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6E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94944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Refreshed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67728" y="2331720"/>
            <a:ext cx="1746504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and counts updated instantly after every change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1480" y="46451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Ctrl+C to stop — dashboard is refreshed one final time before exit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Data Structure — 14 Columns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1435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number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81051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00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 Name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19476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email header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32257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 Email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24597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SMTP address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83464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24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29718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subject 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34670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369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4360" y="34838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AI-detected, multi-label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85876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Received Date &amp; Time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39959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Timezone-normalised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37083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261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Reply Date &amp; Time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94360" y="45079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on each reply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129844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188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00600" y="1435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/ Ongoing / Resolved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181051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700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Since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00600" y="19476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on first Pending→Ongoing transition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232257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To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00600" y="24597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Auto-extracted from reply sender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283464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724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Followups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00600" y="29718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of sender follow-up messages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17720" y="334670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2369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Date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800600" y="34838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AI-extracted deadline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17720" y="385876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800600" y="39959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conversation log, newest first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17720" y="437083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4261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Message-ID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800600" y="45079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matching key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 —  1 OF 2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Install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3977640" cy="347472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258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PACKAGES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62763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E9A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...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96596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1109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pywin32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31343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5856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openpyxl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66090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0604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sentence-transformers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00837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5351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335584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30098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gliner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37033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64845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parsedatetime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405079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99592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1170432"/>
            <a:ext cx="3977640" cy="347472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13258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37760" y="17190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GLiNER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19933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9A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urchade/gliner_small-v2.1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37760" y="224942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~170MB — auto-downloaded on first run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26791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29535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9A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BAAI/bge-base-en-v1.5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37760" y="320954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~430MB — auto-downloaded on first run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36393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1B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391363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9A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via local GGUF import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37760" y="41696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~800MB — special setup needed (see next slide)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 (Classic) must be installed, open, and signed in before running the script.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 —  2 OF 2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Run &amp; Next Run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5029200" cy="324612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SETUP — ONCE ONLY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6642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Ollama from ollama.ai/download (Windows installer)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86537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cached GGUF path: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0665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9A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from huggingface_hub import hf_hub_download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5800" y="22677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9A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print(hf_hub_download("bartowski/google_gemma-3-1b-it-GGUF",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9A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"google_gemma-3-1b-it-Q4_K_M.gguf"))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670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Modelfile (plain text, no extension):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28712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9A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FROM &lt;path printed above&gt;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30723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it with Ollama (runs offline, no network needed):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32735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9A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ollama create gemma3:1b -f Modelfile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3474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 ollama run gemma3:1b "Reply YES"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15000" y="1170432"/>
            <a:ext cx="3017520" cy="324612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97880" y="13258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RUN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97880" y="16642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time: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97880" y="19202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Outlook &amp; sign in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97880" y="2194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script: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97880" y="24688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9A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track_outlook_mails_com.py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97880" y="2743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GLiNER &amp; BGE download (~600MB, once)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715000" y="3063240"/>
            <a:ext cx="3017520" cy="18288"/>
          </a:xfrm>
          <a:prstGeom prst="rect">
            <a:avLst/>
          </a:prstGeom>
          <a:solidFill>
            <a:srgbClr val="0B6E88"/>
          </a:solidFill>
          <a:ln w="12700">
            <a:solidFill>
              <a:srgbClr val="0B6E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31272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time after: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97880" y="34015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Outlook &amp; sign in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897880" y="36758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script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897880" y="39502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models load from cache — done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1480" y="4562587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runs as a background service after installation — no need to start it manually.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 EMAIL TRACKING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Tracking — What We Tried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8321040" cy="1097280"/>
          </a:xfrm>
          <a:prstGeom prst="rect">
            <a:avLst/>
          </a:prstGeom>
          <a:solidFill>
            <a:srgbClr val="1A1028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70432"/>
            <a:ext cx="256032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2435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FAILED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14813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IMAP (imaplib)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1792224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and most natural approach — Python's built-in imaplib connects to any mail server over SSL on port 993. Works perfectly on the personal laptop with Gmail app passwords. On the office laptop: IMAP port 993 is blocked by the corporate firewall. Every connection attempt timed out.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404872"/>
            <a:ext cx="8321040" cy="1097280"/>
          </a:xfrm>
          <a:prstGeom prst="rect">
            <a:avLst/>
          </a:prstGeom>
          <a:solidFill>
            <a:srgbClr val="1A1028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404872"/>
            <a:ext cx="256032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247802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FAILED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" y="2715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Graph API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" y="3026664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Microsoft's official REST API for reading Outlook / Exchange mailboxes. Provides full read access to emails, threads, attachments. Requires: Azure AD app registration + admin consent for Mail.Read permission. IT admin consent was not available during the internship — this route was completely blocked.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639312"/>
            <a:ext cx="8321040" cy="1097280"/>
          </a:xfrm>
          <a:prstGeom prst="rect">
            <a:avLst/>
          </a:prstGeom>
          <a:solidFill>
            <a:srgbClr val="0D2B1F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639312"/>
            <a:ext cx="256032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" y="371246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FINAL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" y="39502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pywin32 COM Automation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" y="4261104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Automates the Outlook (Classic) desktop app directly via Windows COM — the same mechanism that mail merge, VBA macros, and add-ins use. Attaches to the already-running, already-signed-in Outlook session. No credentials, no API keys, no admin consent, no network calls for auth. Reads real Message-ID and In-Reply-To headers via MAPI property tags.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pywin32 COM only works on Windows with Outlook (Classic) installed and signed in.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 EMAIL TRACKING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363017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pywin32 COM — Reading Outlook Emails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72007"/>
            <a:ext cx="8321040" cy="3749040"/>
          </a:xfrm>
          <a:prstGeom prst="rect">
            <a:avLst/>
          </a:prstGeom>
          <a:solidFill>
            <a:srgbClr val="0F1923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70432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parse_email_com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(item):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428293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Raw transport headers give real Message-ID and In-Reply-To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686154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raw_headers = item.PropertyAccessor.GetProperty(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PR_TRANSPORT_MESSAGE_HEADERS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944014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         = email.message_from_string(raw_headers)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459736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Internal Exchange senders use EX format — resolve to SMTP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717597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sender_email = item.Sender.PropertyAccessor.GetProperty(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PR_SMTP_ADDRESS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3233318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Parse date header and normalise to local timezone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491179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parsed_dt = parsedate_to_datetime(msg.get(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"Date"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749040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date_str  = parsed_dt.astimezone().strftime(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"%Y-%m-%d %H:%M:%S"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4189780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message_id  = msg.get(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"Message-ID"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"").strip()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4372659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in_reply_to = msg.get(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"In-Reply-To"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"").strip()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4813399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PR_TRANSPORT_MESSAGE_HEADERS gives real thread headers — without it, replies cannot be linked back to original tickets.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 AI CATEGORY DETECTION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Detection — 6 Approaches, 26 Test Cases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329184" cy="329184"/>
          </a:xfrm>
          <a:prstGeom prst="ellipse">
            <a:avLst/>
          </a:prstGeom>
          <a:solidFill>
            <a:srgbClr val="1B2A3B"/>
          </a:solidFill>
          <a:ln w="19050">
            <a:solidFill>
              <a:srgbClr val="0B6E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8930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2252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 cosine similarity, hard threshold 0.35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481328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 every category above 0.35. Scored 100% but returned 7–9 categories per ticket — completely unusable in practice.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1755648"/>
            <a:ext cx="8321040" cy="9144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4409948"/>
            <a:ext cx="329184" cy="329184"/>
          </a:xfrm>
          <a:prstGeom prst="ellipse">
            <a:avLst/>
          </a:prstGeom>
          <a:solidFill>
            <a:srgbClr val="10B98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41909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3550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 margin-based (top score − 0.05 cutoff)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611116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category always included, plus any within 0.05 of it. Scored 94% with focused 1–2 categories per ticket. Chosen for production.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1913636"/>
            <a:ext cx="329184" cy="329184"/>
          </a:xfrm>
          <a:prstGeom prst="ellipse">
            <a:avLst/>
          </a:prstGeom>
          <a:solidFill>
            <a:srgbClr val="1B2A3B"/>
          </a:solidFill>
          <a:ln w="19050">
            <a:solidFill>
              <a:srgbClr val="0B6E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92278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9AB5"/>
                </a:solidFill>
                <a:latin typeface="Arial" pitchFamily="34" charset="0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18587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mpnet embeddings with hard threshold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114804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Tried all-mpnet-base-v2 as an alternative encoder. Lower semantic accuracy than BGE on support ticket language, same over-inclusion problem.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2389124"/>
            <a:ext cx="8321040" cy="9144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535428"/>
            <a:ext cx="329184" cy="329184"/>
          </a:xfrm>
          <a:prstGeom prst="ellipse">
            <a:avLst/>
          </a:prstGeom>
          <a:solidFill>
            <a:srgbClr val="1B2A3B"/>
          </a:solidFill>
          <a:ln w="19050">
            <a:solidFill>
              <a:srgbClr val="0B6E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54457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9AB5"/>
                </a:solidFill>
                <a:latin typeface="Arial" pitchFamily="34" charset="0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24805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rewrites email → BGE classifies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2736596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paraphrased the email into neutral language before embedding. Improved a few edge cases but added 6–7s latency per ticket — too slow for every new email.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3010916"/>
            <a:ext cx="8321040" cy="9144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157220"/>
            <a:ext cx="329184" cy="329184"/>
          </a:xfrm>
          <a:prstGeom prst="ellipse">
            <a:avLst/>
          </a:prstGeom>
          <a:solidFill>
            <a:srgbClr val="1B2A3B"/>
          </a:solidFill>
          <a:ln w="19050">
            <a:solidFill>
              <a:srgbClr val="0B6E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16636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9AB5"/>
                </a:solidFill>
                <a:latin typeface="Arial" pitchFamily="34" charset="0"/>
                <a:cs typeface="Arial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31023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DeBERTa-ONNX + adaptive margin per label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3358388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heavier NLI model with a per-label adaptive margin. Complex setup, unstable across short emails, no meaningful accuracy gain over Approach B.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3632708"/>
            <a:ext cx="8321040" cy="9144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779012"/>
            <a:ext cx="329184" cy="329184"/>
          </a:xfrm>
          <a:prstGeom prst="ellipse">
            <a:avLst/>
          </a:prstGeom>
          <a:solidFill>
            <a:srgbClr val="1B2A3B"/>
          </a:solidFill>
          <a:ln w="19050">
            <a:solidFill>
              <a:srgbClr val="0B6E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78815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9AB5"/>
                </a:solidFill>
                <a:latin typeface="Arial" pitchFamily="34" charset="0"/>
                <a:cs typeface="Arial" pitchFamily="34" charset="-120"/>
              </a:rPr>
              <a:t>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37241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 with adaptive margin scaled by score spread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" y="3980180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Appeared 100% on the test suite but was gaming the metric — when scores are bunched close together, the adaptive margin over-includes just like Approach A.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11480" y="491947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categories  ·  26 realistic test cases (short / long / tricky / multi-issue)  ·  Approach B chosen for production</a:t>
            </a:r>
            <a:endParaRPr lang="en-US" sz="950" dirty="0"/>
          </a:p>
        </p:txBody>
      </p:sp>
      <p:sp>
        <p:nvSpPr>
          <p:cNvPr id="34" name="Shape 26">
            <a:extLst>
              <a:ext uri="{FF2B5EF4-FFF2-40B4-BE49-F238E27FC236}">
                <a16:creationId xmlns:a16="http://schemas.microsoft.com/office/drawing/2014/main" id="{6711C064-760A-4FD2-8E4B-7BB5AFD65E7E}"/>
              </a:ext>
            </a:extLst>
          </p:cNvPr>
          <p:cNvSpPr/>
          <p:nvPr/>
        </p:nvSpPr>
        <p:spPr>
          <a:xfrm>
            <a:off x="411480" y="4312412"/>
            <a:ext cx="8321040" cy="9144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 CATEGORY DETECTION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BGE Margin-Based Category Detection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3749040"/>
          </a:xfrm>
          <a:prstGeom prst="rect">
            <a:avLst/>
          </a:prstGeom>
          <a:solidFill>
            <a:srgbClr val="0F1923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70432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detect_categories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(body):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428293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.join(body.split()[:150])  </a:t>
            </a: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first 150 words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944014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Pre-check: question words + no problem words → General Query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201875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any(q in text.lower() for q in QUESTION_WORDS) 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459736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not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any(p in text.lower() for p in PROBLEM_WORDS):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717597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"General Query"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3233318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Semantic similarity against 9 pre-encoded label embeddings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491179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emb       = category_model.encode(text, convert_to_tensor=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749040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    = st_util.cos_sim(emb, CATEGORY_EMBS)[0].tolist()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4006901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top_score = max(score_map.values())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4264762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cutoff    = top_score - 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  </a:t>
            </a: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include near-ties (Approach B margin)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4522622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.join(cat for cat, s in score_map.items() if s &gt;= cutoff)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4857616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embeddings are pre-encoded once at startup. Each call is ~0.04s. Runs once per ticket, never on replies.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MODEL: DUE DATE &amp; ASSIGNEE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GLiNER — Due Date &amp; Assignee Extraction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3977640" cy="338328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25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8249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Scans first 300 words of each email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21284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5798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date / time / duration entities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68833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3347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accepts dates in deadline-context sentences (words like 'by', 'due', 'before')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16382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0896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person names for assignee detection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63931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58444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cases: ASAP, URGENT, EOD, EOW, weekend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170432"/>
            <a:ext cx="3977640" cy="338328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325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GLiNER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937760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37760" y="19933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~170MB, runs on CPU, loads in seconds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37760" y="2468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NER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37760" y="27249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fine-tuning — works out of the box for dates and names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37760" y="3200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control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37760" y="34564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threshold tuned to 0.3 to reduce false positives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37760" y="3866567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purpose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960620" y="41636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model handles both due dates and assignee names — no extra dependency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 AI RESOLUTION CHECK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Check — Every Model We Tried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33856"/>
            <a:ext cx="8321040" cy="548640"/>
          </a:xfrm>
          <a:prstGeom prst="rect">
            <a:avLst/>
          </a:prstGeom>
          <a:solidFill>
            <a:srgbClr val="1A1028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33856"/>
            <a:ext cx="201168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52728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11704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keyword matching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04088" y="142646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Looked for phrases like 'issue resolved', 'fixed', 'thank you'. Could not distinguish 'we are looking into it' from 'we have fixed it'. Too many false positives — dropped immediately.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773936"/>
            <a:ext cx="8321040" cy="548640"/>
          </a:xfrm>
          <a:prstGeom prst="rect">
            <a:avLst/>
          </a:prstGeom>
          <a:solidFill>
            <a:srgbClr val="1A1028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773936"/>
            <a:ext cx="201168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1892808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" y="181051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pull gemma3:1b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04088" y="206654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network returns 403 on registry.ollama.ai for every model. Confirmed not model-specific — tinyllama and all others also failed.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414016"/>
            <a:ext cx="8321040" cy="548640"/>
          </a:xfrm>
          <a:prstGeom prst="rect">
            <a:avLst/>
          </a:prstGeom>
          <a:solidFill>
            <a:srgbClr val="1A1028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414016"/>
            <a:ext cx="201168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2532888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4088" y="2450592"/>
            <a:ext cx="29467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1B via transformers (float16)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04088" y="270662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2GB download. ~34s per inference call on CPU — too slow. The full-precision weights are much larger than the quantized GGUF Ollama uses.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054096"/>
            <a:ext cx="8321040" cy="548640"/>
          </a:xfrm>
          <a:prstGeom prst="rect">
            <a:avLst/>
          </a:prstGeom>
          <a:solidFill>
            <a:srgbClr val="1A1028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054096"/>
            <a:ext cx="201168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172968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" y="309067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Qwen3-0.6B  (/no_think mode)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04088" y="334670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~750MB. Speed was fine (~7s). But failed all 4 YES test cases — model too small to distinguish 'we acknowledged your issue' from 'we fixed your issue'.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694176"/>
            <a:ext cx="8321040" cy="548640"/>
          </a:xfrm>
          <a:prstGeom prst="rect">
            <a:avLst/>
          </a:prstGeom>
          <a:solidFill>
            <a:srgbClr val="1A1028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694176"/>
            <a:ext cx="201168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1480" y="3813048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" y="37307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Qwen2.5-1.5B-Instruct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04088" y="398678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~1.5GB. Same pattern as Qwen3-0.6B. Even after prompt engineering across 3 different prompt styles, YES/NO cases swung entirely one way.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4334256"/>
            <a:ext cx="8321040" cy="548640"/>
          </a:xfrm>
          <a:prstGeom prst="rect">
            <a:avLst/>
          </a:prstGeom>
          <a:solidFill>
            <a:srgbClr val="0D2B1F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4334256"/>
            <a:ext cx="201168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11480" y="4453128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" y="43708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1B via local GGUF (Ollama)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04088" y="462686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Downloaded GGUF from Hugging Face → Modelfile → ollama create. Same model, same Q4 quantization, same ~7s speed, same accuracy as the original plan. Runs fully offline.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 RESOLUTION CHECK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Gemma via Ollama — Issue Resolution Check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3654803"/>
          </a:xfrm>
          <a:prstGeom prst="rect">
            <a:avLst/>
          </a:prstGeom>
          <a:solidFill>
            <a:srgbClr val="0F1923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70432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f"""Below is a support ticket conversation, NEWEST first.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428293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Conversation: {conversation_log}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686154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The person who raised this ticket is: {original_sender}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201875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Has EVERY question raised by {original_sender} been answered?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459736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If even ONE is unanswered, answer NO.  Answer YES or NO."""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975458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requests.post(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OLLAMA_URL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json={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3233318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"model"  : 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OLLAMA_MODEL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 </a:t>
            </a: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gemma3:1b  (~7s per call)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491179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"prompt" : PROMPT,  "stream": 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749040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"options": {"temperature": 0.1}</a:t>
            </a: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deterministic output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4006901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timeout=30)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4275089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response.json()[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"response"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].strip().upper()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4494222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"YES" in text and "NO" not in text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4825235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FULL conversation log — handles multi-turn Q&amp;A where each question is answered in a separate reply. Only called when someone other than the original sender replies.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LOGIC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Status Decision Tree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91840" y="1078992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0B6E88"/>
          </a:solidFill>
          <a:ln w="1270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91840" y="1078992"/>
            <a:ext cx="25603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Email Arrives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901952"/>
            <a:ext cx="2377440" cy="548640"/>
          </a:xfrm>
          <a:prstGeom prst="rect">
            <a:avLst/>
          </a:prstGeom>
          <a:solidFill>
            <a:srgbClr val="1B2A3B"/>
          </a:solidFill>
          <a:ln w="12700">
            <a:solidFill>
              <a:srgbClr val="0B6E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9019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a reply?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2176272"/>
            <a:ext cx="0" cy="0"/>
          </a:xfrm>
          <a:prstGeom prst="line">
            <a:avLst/>
          </a:prstGeom>
          <a:noFill/>
          <a:ln w="19050">
            <a:solidFill>
              <a:srgbClr val="0B6E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197510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1901952"/>
            <a:ext cx="1234440" cy="548640"/>
          </a:xfrm>
          <a:prstGeom prst="roundRect">
            <a:avLst>
              <a:gd name="adj" fmla="val 16667"/>
            </a:avLst>
          </a:prstGeom>
          <a:solidFill>
            <a:srgbClr val="1A3A5C"/>
          </a:solidFill>
          <a:ln w="1270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1901952"/>
            <a:ext cx="12344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New Ticket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= PENDING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46520" y="20848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35040" y="197510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583680" y="1901952"/>
            <a:ext cx="2148840" cy="548640"/>
          </a:xfrm>
          <a:prstGeom prst="roundRect">
            <a:avLst>
              <a:gd name="adj" fmla="val 16667"/>
            </a:avLst>
          </a:prstGeom>
          <a:solidFill>
            <a:srgbClr val="1B2A3B"/>
          </a:solidFill>
          <a:ln w="1270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0" y="1901952"/>
            <a:ext cx="21488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replied?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43163" y="254431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263640" y="2862072"/>
            <a:ext cx="1207009" cy="457200"/>
          </a:xfrm>
          <a:prstGeom prst="roundRect">
            <a:avLst>
              <a:gd name="adj" fmla="val 16667"/>
            </a:avLst>
          </a:prstGeom>
          <a:solidFill>
            <a:srgbClr val="1B2A3B"/>
          </a:solidFill>
          <a:ln w="1270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89320" y="2820924"/>
            <a:ext cx="178308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3136392"/>
            <a:ext cx="0" cy="0"/>
          </a:xfrm>
          <a:prstGeom prst="line">
            <a:avLst/>
          </a:prstGeom>
          <a:noFill/>
          <a:ln w="19050">
            <a:solidFill>
              <a:srgbClr val="0B6E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80971" y="293522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19637" y="2889504"/>
            <a:ext cx="1234440" cy="411480"/>
          </a:xfrm>
          <a:prstGeom prst="roundRect">
            <a:avLst>
              <a:gd name="adj" fmla="val 22222"/>
            </a:avLst>
          </a:prstGeom>
          <a:solidFill>
            <a:srgbClr val="1A3A5C"/>
          </a:solidFill>
          <a:ln w="1270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119637" y="2889504"/>
            <a:ext cx="12344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Followups++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= PENDING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63640" y="3474720"/>
            <a:ext cx="0" cy="0"/>
          </a:xfrm>
          <a:prstGeom prst="line">
            <a:avLst/>
          </a:prstGeom>
          <a:noFill/>
          <a:ln w="19050">
            <a:solidFill>
              <a:srgbClr val="0B6E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33832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66586" y="3508877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104848" y="3484672"/>
            <a:ext cx="1234440" cy="411480"/>
          </a:xfrm>
          <a:prstGeom prst="roundRect">
            <a:avLst>
              <a:gd name="adj" fmla="val 22222"/>
            </a:avLst>
          </a:prstGeom>
          <a:solidFill>
            <a:srgbClr val="1A3A5C"/>
          </a:solidFill>
          <a:ln w="1270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117758" y="3478217"/>
            <a:ext cx="12344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= ONGOING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63640" y="3803904"/>
            <a:ext cx="0" cy="0"/>
          </a:xfrm>
          <a:prstGeom prst="line">
            <a:avLst/>
          </a:prstGeom>
          <a:noFill/>
          <a:ln w="19050">
            <a:solidFill>
              <a:srgbClr val="0B6E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57800" y="37124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354077" y="41148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104848" y="4079840"/>
            <a:ext cx="1234440" cy="411480"/>
          </a:xfrm>
          <a:prstGeom prst="roundRect">
            <a:avLst>
              <a:gd name="adj" fmla="val 22222"/>
            </a:avLst>
          </a:prstGeom>
          <a:solidFill>
            <a:srgbClr val="1A3A5C"/>
          </a:solidFill>
          <a:ln w="1270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104848" y="4088984"/>
            <a:ext cx="12344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ticket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= PENDING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62088" y="32461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092440" y="253725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else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772400" y="41148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949440" y="4279392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0D2B1F"/>
          </a:solidFill>
          <a:ln w="1270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949440" y="4279392"/>
            <a:ext cx="8229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818120" y="43708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229600" y="4279392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1A3A5C"/>
          </a:solidFill>
          <a:ln w="1270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8229600" y="4279392"/>
            <a:ext cx="8229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11480" y="487375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Since timestamp set once on first Pending → Ongoing transition, never overwritten.</a:t>
            </a:r>
            <a:endParaRPr lang="en-US" sz="950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F81EF21-A335-47E2-8192-85DFA5590F02}"/>
              </a:ext>
            </a:extLst>
          </p:cNvPr>
          <p:cNvCxnSpPr>
            <a:stCxn id="9" idx="1"/>
            <a:endCxn id="13" idx="3"/>
          </p:cNvCxnSpPr>
          <p:nvPr/>
        </p:nvCxnSpPr>
        <p:spPr>
          <a:xfrm flipH="1">
            <a:off x="1645920" y="2176272"/>
            <a:ext cx="17373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ABBA975-5E5C-453F-A9F0-ABA0D8640E9D}"/>
              </a:ext>
            </a:extLst>
          </p:cNvPr>
          <p:cNvCxnSpPr>
            <a:stCxn id="8" idx="3"/>
            <a:endCxn id="18" idx="1"/>
          </p:cNvCxnSpPr>
          <p:nvPr/>
        </p:nvCxnSpPr>
        <p:spPr>
          <a:xfrm>
            <a:off x="5760720" y="2176272"/>
            <a:ext cx="822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Shape 21">
            <a:extLst>
              <a:ext uri="{FF2B5EF4-FFF2-40B4-BE49-F238E27FC236}">
                <a16:creationId xmlns:a16="http://schemas.microsoft.com/office/drawing/2014/main" id="{8CC1D6AB-BB41-41D7-BE96-184A980D01EE}"/>
              </a:ext>
            </a:extLst>
          </p:cNvPr>
          <p:cNvSpPr/>
          <p:nvPr/>
        </p:nvSpPr>
        <p:spPr>
          <a:xfrm>
            <a:off x="7772400" y="2868930"/>
            <a:ext cx="1280160" cy="457200"/>
          </a:xfrm>
          <a:prstGeom prst="roundRect">
            <a:avLst>
              <a:gd name="adj" fmla="val 16667"/>
            </a:avLst>
          </a:prstGeom>
          <a:solidFill>
            <a:srgbClr val="1B2A3B"/>
          </a:solidFill>
          <a:ln w="1270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Gemma checks full conversation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61A7008-7CFF-4DDC-BBBF-EB6FE9D7B66B}"/>
              </a:ext>
            </a:extLst>
          </p:cNvPr>
          <p:cNvCxnSpPr>
            <a:stCxn id="18" idx="2"/>
            <a:endCxn id="23" idx="0"/>
          </p:cNvCxnSpPr>
          <p:nvPr/>
        </p:nvCxnSpPr>
        <p:spPr>
          <a:xfrm flipH="1">
            <a:off x="6867145" y="2450592"/>
            <a:ext cx="790955" cy="411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48B0243-8C0B-47B1-A0A8-6C9B3B6079B0}"/>
              </a:ext>
            </a:extLst>
          </p:cNvPr>
          <p:cNvCxnSpPr>
            <a:stCxn id="18" idx="2"/>
            <a:endCxn id="57" idx="0"/>
          </p:cNvCxnSpPr>
          <p:nvPr/>
        </p:nvCxnSpPr>
        <p:spPr>
          <a:xfrm>
            <a:off x="7658100" y="2450592"/>
            <a:ext cx="754380" cy="418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7B8530B-C421-4C9D-9126-C9254DC6427B}"/>
              </a:ext>
            </a:extLst>
          </p:cNvPr>
          <p:cNvCxnSpPr>
            <a:stCxn id="57" idx="2"/>
            <a:endCxn id="47" idx="0"/>
          </p:cNvCxnSpPr>
          <p:nvPr/>
        </p:nvCxnSpPr>
        <p:spPr>
          <a:xfrm flipH="1">
            <a:off x="7360920" y="3326130"/>
            <a:ext cx="1051560" cy="953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9628A75-D468-4E3F-8108-85C1A79B1777}"/>
              </a:ext>
            </a:extLst>
          </p:cNvPr>
          <p:cNvCxnSpPr>
            <a:stCxn id="57" idx="2"/>
            <a:endCxn id="50" idx="0"/>
          </p:cNvCxnSpPr>
          <p:nvPr/>
        </p:nvCxnSpPr>
        <p:spPr>
          <a:xfrm>
            <a:off x="8412480" y="3326130"/>
            <a:ext cx="228600" cy="953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87C7A957-DB31-41B9-A45E-D3FCF1ED1813}"/>
              </a:ext>
            </a:extLst>
          </p:cNvPr>
          <p:cNvCxnSpPr>
            <a:stCxn id="23" idx="1"/>
            <a:endCxn id="33" idx="3"/>
          </p:cNvCxnSpPr>
          <p:nvPr/>
        </p:nvCxnSpPr>
        <p:spPr>
          <a:xfrm rot="10800000" flipV="1">
            <a:off x="5339288" y="3090672"/>
            <a:ext cx="924352" cy="5997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63075F47-838F-48DC-81D4-61E40018C54C}"/>
              </a:ext>
            </a:extLst>
          </p:cNvPr>
          <p:cNvCxnSpPr>
            <a:stCxn id="23" idx="1"/>
            <a:endCxn id="39" idx="3"/>
          </p:cNvCxnSpPr>
          <p:nvPr/>
        </p:nvCxnSpPr>
        <p:spPr>
          <a:xfrm rot="10800000" flipV="1">
            <a:off x="5339288" y="3090672"/>
            <a:ext cx="924352" cy="120405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A8AE03E-990E-425D-B814-8E9F8EFB8677}"/>
              </a:ext>
            </a:extLst>
          </p:cNvPr>
          <p:cNvCxnSpPr>
            <a:stCxn id="23" idx="1"/>
            <a:endCxn id="28" idx="3"/>
          </p:cNvCxnSpPr>
          <p:nvPr/>
        </p:nvCxnSpPr>
        <p:spPr>
          <a:xfrm flipH="1">
            <a:off x="5354077" y="3090672"/>
            <a:ext cx="909563" cy="4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5A69EEAD-5463-4014-96B1-BF4AA983B1D6}"/>
              </a:ext>
            </a:extLst>
          </p:cNvPr>
          <p:cNvCxnSpPr>
            <a:stCxn id="4" idx="2"/>
            <a:endCxn id="9" idx="0"/>
          </p:cNvCxnSpPr>
          <p:nvPr/>
        </p:nvCxnSpPr>
        <p:spPr>
          <a:xfrm>
            <a:off x="4572000" y="1581912"/>
            <a:ext cx="0" cy="32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 STATUS LOGIC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Logic — update_existing_row()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3749040"/>
          </a:xfrm>
          <a:prstGeom prst="rect">
            <a:avLst/>
          </a:prstGeom>
          <a:solidFill>
            <a:srgbClr val="0F1923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70432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is_same_sender = (reply_sender == original_sender)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686154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is_same_sender and current_status ==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"Resolved"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944014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"new_issue"</a:t>
            </a: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caller creates a brand new ticket row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459736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is_same_sender and current_status ==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"Pending"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717597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followups += 1;  status =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"Pending"</a:t>
            </a: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sender following up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3233318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is_same_sender and current_status ==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"Ongoing"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3491179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 =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"Ongoing"</a:t>
            </a: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sender adding more info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4006901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# someone else replied — run AI resolution check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4264762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resolved = is_conversation_resolved(combined_body, original_sender)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4522622"/>
            <a:ext cx="79552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   =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"Resolved"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if resolved else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"Ongoing"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491947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is only called in the else branch — minimising LLM inference calls per poll cycle.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Auto-Generated Excel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8321040" cy="64008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6E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70432" y="12435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Panel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70432" y="1517904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tickets, Pending / Ongoing / Resolved counts, Resolution Rate, Avg Followups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1938528"/>
            <a:ext cx="8321040" cy="64008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6E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70432" y="1993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Pie Chart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2267712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breakdown of current ticket statuses — updates automatically on every new email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688336"/>
            <a:ext cx="8321040" cy="64008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6E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70432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Bar Chart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70432" y="3017520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 Pending vs Ongoing bars per issue category — shows workload distribution by type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3438144"/>
            <a:ext cx="8321040" cy="64008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511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6E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70432" y="3493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Assignee Bar Chart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70432" y="3767328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 Pending vs Ongoing bars per team member — shows individual workload (top 12)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1480" y="4187952"/>
            <a:ext cx="8321040" cy="64008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4261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6E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70432" y="4242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Tickets List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70432" y="4517136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open tickets sorted by days in Ongoing. Tickets open 14+ days highlighted in orange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1480" y="490118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refreshes automatically after every new email or reply — no manual action needed.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4069080" cy="804672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61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Email Detection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Polls Outlook every 15s via COM. New emails and replies processed automatically.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121408"/>
            <a:ext cx="4069080" cy="804672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Category Detection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24871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categories, multi-label, margin-based BGE matching. Runs once per ticket.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054096"/>
            <a:ext cx="4069080" cy="804672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127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Matching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34198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replies to original tickets by Message-ID, then by subject as fallback.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986784"/>
            <a:ext cx="4069080" cy="804672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40599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Resolution Check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" y="43525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1B reads the full conversation to determine if all issues are resolved.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188720"/>
            <a:ext cx="4069080" cy="804672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261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Date Extraction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4632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GLiNER finds deadline entities. Handles ASAP, EOD, EOW, natural language dates.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121408"/>
            <a:ext cx="4069080" cy="804672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Assignee Detection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46320" y="24871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from reply sender name, email prefix, or GLiNER body scan.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054096"/>
            <a:ext cx="4069080" cy="804672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3127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46320" y="34198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5-section Excel dashboard. Refreshes automatically after every new email or reply.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986784"/>
            <a:ext cx="4069080" cy="804672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40599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Queue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46320" y="43525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 that fail to save (Excel open) are queued and retried every poll cycle.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What It Achieves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1965960" cy="137160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34440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E9A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19019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categories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auto-detected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170432"/>
            <a:ext cx="1965960" cy="137160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234440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E9A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560320" y="19019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resolution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per ticket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1965960" cy="137160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1234440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E9A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709160" y="19019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effort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routine tracking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1170432"/>
            <a:ext cx="1965960" cy="137160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1234440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E9A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15s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858000" y="19019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 poll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724912"/>
            <a:ext cx="8321040" cy="914400"/>
          </a:xfrm>
          <a:prstGeom prst="rect">
            <a:avLst/>
          </a:prstGeom>
          <a:solidFill>
            <a:srgbClr val="1A1028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28163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307238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 checked manually, tickets tracked in a basic Excel sheet by hand, no visibility into categories or resolution rates, no workload view per assignee.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3776472"/>
            <a:ext cx="8321040" cy="914400"/>
          </a:xfrm>
          <a:prstGeom prst="rect">
            <a:avLst/>
          </a:prstGeom>
          <a:solidFill>
            <a:srgbClr val="0D2B1F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412394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incoming email is auto-classified, threaded, and logged. A supervisor can open the Excel file at any point and see a live dashboard with ticket counts, category breakdown, assignee workload, and a list of all open tickets sorted by how long they have been waiting.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B6E88"/>
          </a:solidFill>
          <a:ln w="12700">
            <a:solidFill>
              <a:srgbClr val="0B6E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solidFill>
            <a:srgbClr val="0E9AB5">
              <a:alpha val="30000"/>
            </a:srgbClr>
          </a:solidFill>
          <a:ln w="12700">
            <a:solidFill>
              <a:srgbClr val="0E9A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3657600"/>
            <a:ext cx="1463040" cy="1463040"/>
          </a:xfrm>
          <a:prstGeom prst="ellipse">
            <a:avLst/>
          </a:prstGeom>
          <a:solidFill>
            <a:srgbClr val="0D1B2A">
              <a:alpha val="6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10972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840480" y="1920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840480" y="2560320"/>
            <a:ext cx="4937760" cy="27432"/>
          </a:xfrm>
          <a:prstGeom prst="rect">
            <a:avLst/>
          </a:prstGeom>
          <a:solidFill>
            <a:srgbClr val="0B6E88"/>
          </a:solidFill>
          <a:ln w="12700">
            <a:solidFill>
              <a:srgbClr val="0B6E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0" y="269748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2651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Script: dynamic_dashboard.py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0" y="313639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30906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mail_tracker.xlsx (with Dashboard sheet)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0" y="357530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352958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Models: GLiNER · BGE · Gemma 3 1B (local GGUF)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41605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Sambhav Singwi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&amp; AI Intern — EXL Service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2898</Words>
  <Application>Microsoft Office PowerPoint</Application>
  <PresentationFormat>On-screen Show (16:9)</PresentationFormat>
  <Paragraphs>358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TechOps Mail Tracker</dc:title>
  <dc:subject>PptxGenJS Presentation</dc:subject>
  <dc:creator>PptxGenJS</dc:creator>
  <cp:lastModifiedBy>Sambhav Singwi</cp:lastModifiedBy>
  <cp:revision>2</cp:revision>
  <dcterms:created xsi:type="dcterms:W3CDTF">2026-06-27T13:48:56Z</dcterms:created>
  <dcterms:modified xsi:type="dcterms:W3CDTF">2026-06-28T10:13:45Z</dcterms:modified>
</cp:coreProperties>
</file>